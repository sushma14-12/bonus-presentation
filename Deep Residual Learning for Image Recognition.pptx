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7"/>
  </p:notesMasterIdLst>
  <p:sldIdLst>
    <p:sldId id="278" r:id="rId5"/>
    <p:sldId id="289" r:id="rId6"/>
    <p:sldId id="288" r:id="rId7"/>
    <p:sldId id="280" r:id="rId8"/>
    <p:sldId id="281" r:id="rId9"/>
    <p:sldId id="282" r:id="rId10"/>
    <p:sldId id="283" r:id="rId11"/>
    <p:sldId id="284" r:id="rId12"/>
    <p:sldId id="285" r:id="rId13"/>
    <p:sldId id="286" r:id="rId14"/>
    <p:sldId id="290" r:id="rId15"/>
    <p:sldId id="287"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9" autoAdjust="0"/>
    <p:restoredTop sz="94619" autoAdjust="0"/>
  </p:normalViewPr>
  <p:slideViewPr>
    <p:cSldViewPr snapToGrid="0">
      <p:cViewPr>
        <p:scale>
          <a:sx n="88" d="100"/>
          <a:sy n="88" d="100"/>
        </p:scale>
        <p:origin x="126"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01546-198A-4195-BCF8-F0FF54C90E5E}" type="datetimeFigureOut">
              <a:rPr lang="en-US" smtClean="0"/>
              <a:t>4/30/2025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6DE88F-1F85-4A27-9D34-D74A50E7B0DA}" type="slidenum">
              <a:rPr lang="en-US" smtClean="0"/>
              <a:t>‹#›</a:t>
            </a:fld>
            <a:endParaRPr lang="en-US" dirty="0"/>
          </a:p>
        </p:txBody>
      </p:sp>
    </p:spTree>
    <p:extLst>
      <p:ext uri="{BB962C8B-B14F-4D97-AF65-F5344CB8AC3E}">
        <p14:creationId xmlns:p14="http://schemas.microsoft.com/office/powerpoint/2010/main" val="37300918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4/30/2025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150746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4/30/2025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548654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4/30/2025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46401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88205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343D99-809A-49C0-96E5-4250D0B498EE}" type="datetime1">
              <a:rPr lang="en-US" smtClean="0"/>
              <a:t>4/30/2025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35120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4/30/2025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90940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4/30/2025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551302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7935569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4/30/2025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3056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09502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53850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752911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4/30/2025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50925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4/30/2025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326478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4/30/2025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9325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4/30/2025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185897835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457200" rtl="0" eaLnBrk="1" latinLnBrk="0" hangingPunct="1">
        <a:lnSpc>
          <a:spcPct val="90000"/>
        </a:lnSpc>
        <a:spcBef>
          <a:spcPct val="0"/>
        </a:spcBef>
        <a:buNone/>
        <a:defRPr sz="4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3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6.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8A1C807-B9AD-4C9B-BF9F-60F03428998E}"/>
              </a:ext>
              <a:ext uri="{C183D7F6-B498-43B3-948B-1728B52AA6E4}">
                <adec:decorative xmlns:adec="http://schemas.microsoft.com/office/drawing/2017/decorative" val="1"/>
              </a:ext>
            </a:extLst>
          </p:cNvPr>
          <p:cNvPicPr>
            <a:picLocks noChangeAspect="1"/>
          </p:cNvPicPr>
          <p:nvPr/>
        </p:nvPicPr>
        <p:blipFill rotWithShape="1">
          <a:blip r:embed="rId4">
            <a:extLst>
              <a:ext uri="{28A0092B-C50C-407E-A947-70E740481C1C}">
                <a14:useLocalDpi xmlns:a14="http://schemas.microsoft.com/office/drawing/2010/main" val="0"/>
              </a:ext>
            </a:extLst>
          </a:blip>
          <a:srcRect/>
          <a:stretch/>
        </p:blipFill>
        <p:spPr>
          <a:xfrm>
            <a:off x="-1" y="10"/>
            <a:ext cx="12192001" cy="6857990"/>
          </a:xfrm>
          <a:prstGeom prst="rect">
            <a:avLst/>
          </a:prstGeom>
        </p:spPr>
      </p:pic>
      <p:sp useBgFill="1">
        <p:nvSpPr>
          <p:cNvPr id="103" name="Freeform 5">
            <a:extLst>
              <a:ext uri="{FF2B5EF4-FFF2-40B4-BE49-F238E27FC236}">
                <a16:creationId xmlns:a16="http://schemas.microsoft.com/office/drawing/2014/main" id="{FE469E50-3893-4ED6-92BA-2985C32B0C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rot="5400000">
            <a:off x="7131809" y="1385982"/>
            <a:ext cx="4031414" cy="4100418"/>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oudy Old Style"/>
              <a:ea typeface="+mn-ea"/>
              <a:cs typeface="+mn-cs"/>
            </a:endParaRPr>
          </a:p>
        </p:txBody>
      </p:sp>
      <p:sp>
        <p:nvSpPr>
          <p:cNvPr id="2" name="Title 1">
            <a:extLst>
              <a:ext uri="{FF2B5EF4-FFF2-40B4-BE49-F238E27FC236}">
                <a16:creationId xmlns:a16="http://schemas.microsoft.com/office/drawing/2014/main" id="{0D1F047C-C727-42A7-85C5-68C5AA1B1A93}"/>
              </a:ext>
            </a:extLst>
          </p:cNvPr>
          <p:cNvSpPr>
            <a:spLocks noGrp="1"/>
          </p:cNvSpPr>
          <p:nvPr>
            <p:ph type="ctrTitle"/>
          </p:nvPr>
        </p:nvSpPr>
        <p:spPr>
          <a:xfrm>
            <a:off x="7389962" y="1673524"/>
            <a:ext cx="3485073" cy="2420504"/>
          </a:xfrm>
        </p:spPr>
        <p:txBody>
          <a:bodyPr>
            <a:normAutofit/>
          </a:bodyPr>
          <a:lstStyle/>
          <a:p>
            <a:r>
              <a:rPr lang="en-US" sz="4000" b="0" i="0" u="none" strike="noStrike" baseline="0" dirty="0">
                <a:solidFill>
                  <a:schemeClr val="tx1"/>
                </a:solidFill>
                <a:latin typeface="Times New Roman" panose="02020603050405020304" pitchFamily="18" charset="0"/>
                <a:cs typeface="Times New Roman" panose="02020603050405020304" pitchFamily="18" charset="0"/>
              </a:rPr>
              <a:t>Deep Residual Learning for Image Recognition</a:t>
            </a:r>
            <a:endParaRPr lang="en-US" sz="4000" dirty="0">
              <a:solidFill>
                <a:schemeClr val="tx1"/>
              </a:solidFill>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B93FB3F-A8D4-46D3-A1C6-C79C64563729}"/>
              </a:ext>
            </a:extLst>
          </p:cNvPr>
          <p:cNvSpPr>
            <a:spLocks noGrp="1"/>
          </p:cNvSpPr>
          <p:nvPr>
            <p:ph type="subTitle" idx="1"/>
          </p:nvPr>
        </p:nvSpPr>
        <p:spPr>
          <a:xfrm>
            <a:off x="7389965" y="4157933"/>
            <a:ext cx="3485072" cy="1026544"/>
          </a:xfrm>
        </p:spPr>
        <p:txBody>
          <a:bodyPr>
            <a:normAutofit/>
          </a:bodyPr>
          <a:lstStyle/>
          <a:p>
            <a:pPr algn="l"/>
            <a:r>
              <a:rPr lang="en-US" sz="1800" dirty="0"/>
              <a:t>Sushma </a:t>
            </a:r>
            <a:r>
              <a:rPr lang="en-US" sz="1800" dirty="0" err="1"/>
              <a:t>Veluru</a:t>
            </a:r>
            <a:r>
              <a:rPr lang="en-US" sz="1800" dirty="0"/>
              <a:t>- 700765390</a:t>
            </a:r>
          </a:p>
          <a:p>
            <a:pPr algn="l"/>
            <a:r>
              <a:rPr lang="en-US" sz="1800" dirty="0"/>
              <a:t>Arvind Veda- 700774397</a:t>
            </a:r>
          </a:p>
        </p:txBody>
      </p:sp>
    </p:spTree>
    <p:extLst>
      <p:ext uri="{BB962C8B-B14F-4D97-AF65-F5344CB8AC3E}">
        <p14:creationId xmlns:p14="http://schemas.microsoft.com/office/powerpoint/2010/main" val="41678842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CD2A3-2678-3F59-6E0C-7CDB96CB809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EA36CEE8-DBF9-8D47-08C7-BF1E3224E522}"/>
              </a:ext>
            </a:extLst>
          </p:cNvPr>
          <p:cNvSpPr>
            <a:spLocks noGrp="1"/>
          </p:cNvSpPr>
          <p:nvPr>
            <p:ph idx="1"/>
          </p:nvPr>
        </p:nvSpPr>
        <p:spPr/>
        <p:txBody>
          <a:bodyPr>
            <a:normAutofit lnSpcReduction="10000"/>
          </a:bodyPr>
          <a:lstStyle/>
          <a:p>
            <a:pPr algn="just"/>
            <a:r>
              <a:rPr lang="en-US" dirty="0">
                <a:latin typeface="Times New Roman" panose="02020603050405020304" pitchFamily="18" charset="0"/>
                <a:cs typeface="Times New Roman" panose="02020603050405020304" pitchFamily="18" charset="0"/>
              </a:rPr>
              <a:t>Deep residual networks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have revolutionized the field of computer vision by enabling the training of neural networks with hundreds or even thousands of layers. Traditional deep networks suffer from degradation — a phenomenon where adding more layers leads to higher training error.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address this challenge by introducing residual learning, where the network learns the residuals (differences) between the input and output rather than the full transformation. This simple yet powerful idea allows easier optimization and improves accuracy in very deep networks. This presentation explores the motivation behind residual learning, the architecture of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experimental results on benchmarks like ImageNet and CIFAR-10, and the impact of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on downstream tasks like object detection.</a:t>
            </a:r>
          </a:p>
        </p:txBody>
      </p:sp>
    </p:spTree>
    <p:extLst>
      <p:ext uri="{BB962C8B-B14F-4D97-AF65-F5344CB8AC3E}">
        <p14:creationId xmlns:p14="http://schemas.microsoft.com/office/powerpoint/2010/main" val="34163556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40FF1-3848-8DC9-9F1A-3FBDC7485400}"/>
              </a:ext>
            </a:extLst>
          </p:cNvPr>
          <p:cNvSpPr>
            <a:spLocks noGrp="1"/>
          </p:cNvSpPr>
          <p:nvPr>
            <p:ph type="title"/>
          </p:nvPr>
        </p:nvSpPr>
        <p:spPr/>
        <p:txBody>
          <a:bodyPr/>
          <a:lstStyle/>
          <a:p>
            <a:r>
              <a:rPr lang="en-US" sz="4800" dirty="0">
                <a:latin typeface="Times New Roman" panose="02020603050405020304" pitchFamily="18" charset="0"/>
                <a:cs typeface="Times New Roman" panose="02020603050405020304" pitchFamily="18" charset="0"/>
              </a:rPr>
              <a:t>Motivation</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4C789DC-9543-25C1-1FF3-EB1F4F05791E}"/>
              </a:ext>
            </a:extLst>
          </p:cNvPr>
          <p:cNvSpPr>
            <a:spLocks noGrp="1"/>
          </p:cNvSpPr>
          <p:nvPr>
            <p:ph idx="1"/>
          </p:nvPr>
        </p:nvSpPr>
        <p:spPr/>
        <p:txBody>
          <a:bodyPr>
            <a:normAutofit fontScale="77500" lnSpcReduction="20000"/>
          </a:bodyPr>
          <a:lstStyle/>
          <a:p>
            <a:r>
              <a:rPr lang="en-US" dirty="0">
                <a:latin typeface="Times New Roman" panose="02020603050405020304" pitchFamily="18" charset="0"/>
                <a:cs typeface="Times New Roman" panose="02020603050405020304" pitchFamily="18" charset="0"/>
              </a:rPr>
              <a:t>Problem</a:t>
            </a:r>
          </a:p>
          <a:p>
            <a:pPr lvl="1"/>
            <a:r>
              <a:rPr lang="en-US" dirty="0">
                <a:latin typeface="Times New Roman" panose="02020603050405020304" pitchFamily="18" charset="0"/>
                <a:cs typeface="Times New Roman" panose="02020603050405020304" pitchFamily="18" charset="0"/>
              </a:rPr>
              <a:t>Deeper networks are expected to perform better due to increased representational power.</a:t>
            </a:r>
          </a:p>
          <a:p>
            <a:pPr lvl="1"/>
            <a:r>
              <a:rPr lang="en-US" dirty="0">
                <a:latin typeface="Times New Roman" panose="02020603050405020304" pitchFamily="18" charset="0"/>
                <a:cs typeface="Times New Roman" panose="02020603050405020304" pitchFamily="18" charset="0"/>
              </a:rPr>
              <a:t>In practice, training error increases with depth after a certain point — not due to overfitting but due to optimization difficulties.</a:t>
            </a:r>
          </a:p>
          <a:p>
            <a:pPr lvl="1"/>
            <a:r>
              <a:rPr lang="en-US" dirty="0">
                <a:latin typeface="Times New Roman" panose="02020603050405020304" pitchFamily="18" charset="0"/>
                <a:cs typeface="Times New Roman" panose="02020603050405020304" pitchFamily="18" charset="0"/>
              </a:rPr>
              <a:t>Conventional deep networks (like VGG or </a:t>
            </a:r>
            <a:r>
              <a:rPr lang="en-US" dirty="0" err="1">
                <a:latin typeface="Times New Roman" panose="02020603050405020304" pitchFamily="18" charset="0"/>
                <a:cs typeface="Times New Roman" panose="02020603050405020304" pitchFamily="18" charset="0"/>
              </a:rPr>
              <a:t>AlexNet</a:t>
            </a:r>
            <a:r>
              <a:rPr lang="en-US" dirty="0">
                <a:latin typeface="Times New Roman" panose="02020603050405020304" pitchFamily="18" charset="0"/>
                <a:cs typeface="Times New Roman" panose="02020603050405020304" pitchFamily="18" charset="0"/>
              </a:rPr>
              <a:t>) suffer from vanishing/exploding gradients, making it hard to update early layers.</a:t>
            </a:r>
          </a:p>
          <a:p>
            <a:r>
              <a:rPr lang="en-US" dirty="0">
                <a:latin typeface="Times New Roman" panose="02020603050405020304" pitchFamily="18" charset="0"/>
                <a:cs typeface="Times New Roman" panose="02020603050405020304" pitchFamily="18" charset="0"/>
              </a:rPr>
              <a:t>Solution</a:t>
            </a:r>
          </a:p>
          <a:p>
            <a:pPr lvl="1"/>
            <a:r>
              <a:rPr lang="en-US" dirty="0">
                <a:latin typeface="Times New Roman" panose="02020603050405020304" pitchFamily="18" charset="0"/>
                <a:cs typeface="Times New Roman" panose="02020603050405020304" pitchFamily="18" charset="0"/>
              </a:rPr>
              <a:t>Propose learning residual mappings 𝐹(𝑥)=𝐻(𝑥)−𝑥instead of directly learning𝐻(𝑥).</a:t>
            </a:r>
          </a:p>
          <a:p>
            <a:pPr lvl="1"/>
            <a:r>
              <a:rPr lang="en-US" dirty="0">
                <a:latin typeface="Times New Roman" panose="02020603050405020304" pitchFamily="18" charset="0"/>
                <a:cs typeface="Times New Roman" panose="02020603050405020304" pitchFamily="18" charset="0"/>
              </a:rPr>
              <a:t>Reformulate as 𝐻(𝑥)=𝐹(𝑥)+𝑥H(x)=F(x)+x, which makes the identity function easier to learn if it's optimal.</a:t>
            </a:r>
          </a:p>
          <a:p>
            <a:pPr lvl="1"/>
            <a:r>
              <a:rPr lang="en-US" dirty="0">
                <a:latin typeface="Times New Roman" panose="02020603050405020304" pitchFamily="18" charset="0"/>
                <a:cs typeface="Times New Roman" panose="02020603050405020304" pitchFamily="18" charset="0"/>
              </a:rPr>
              <a:t>Introduce skip connections that perform identity mapping and add the input directly to the output of the residual function.</a:t>
            </a:r>
          </a:p>
        </p:txBody>
      </p:sp>
    </p:spTree>
    <p:extLst>
      <p:ext uri="{BB962C8B-B14F-4D97-AF65-F5344CB8AC3E}">
        <p14:creationId xmlns:p14="http://schemas.microsoft.com/office/powerpoint/2010/main" val="3834900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240C3-13CE-77D2-1C2A-0ED0C917754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Residual Learning Concept</a:t>
            </a:r>
          </a:p>
        </p:txBody>
      </p:sp>
      <p:sp>
        <p:nvSpPr>
          <p:cNvPr id="3" name="Content Placeholder 2">
            <a:extLst>
              <a:ext uri="{FF2B5EF4-FFF2-40B4-BE49-F238E27FC236}">
                <a16:creationId xmlns:a16="http://schemas.microsoft.com/office/drawing/2014/main" id="{BDCE91C6-17A4-859C-8C4B-B531EC172F10}"/>
              </a:ext>
            </a:extLst>
          </p:cNvPr>
          <p:cNvSpPr>
            <a:spLocks noGrp="1"/>
          </p:cNvSpPr>
          <p:nvPr>
            <p:ph idx="1"/>
          </p:nvPr>
        </p:nvSpPr>
        <p:spPr/>
        <p:txBody>
          <a:bodyPr>
            <a:normAutofit fontScale="85000" lnSpcReduction="20000"/>
          </a:bodyPr>
          <a:lstStyle/>
          <a:p>
            <a:r>
              <a:rPr lang="en-US" dirty="0">
                <a:latin typeface="Times New Roman" panose="02020603050405020304" pitchFamily="18" charset="0"/>
                <a:cs typeface="Times New Roman" panose="02020603050405020304" pitchFamily="18" charset="0"/>
              </a:rPr>
              <a:t>Equation</a:t>
            </a:r>
          </a:p>
          <a:p>
            <a:pPr lvl="1"/>
            <a:r>
              <a:rPr lang="en-US" dirty="0">
                <a:latin typeface="Times New Roman" panose="02020603050405020304" pitchFamily="18" charset="0"/>
                <a:cs typeface="Times New Roman" panose="02020603050405020304" pitchFamily="18" charset="0"/>
              </a:rPr>
              <a:t>𝐻(𝑥)=𝐹(𝑥)+𝑥</a:t>
            </a:r>
          </a:p>
          <a:p>
            <a:pPr lvl="1"/>
            <a:r>
              <a:rPr lang="en-US" dirty="0">
                <a:latin typeface="Times New Roman" panose="02020603050405020304" pitchFamily="18" charset="0"/>
                <a:cs typeface="Times New Roman" panose="02020603050405020304" pitchFamily="18" charset="0"/>
              </a:rPr>
              <a:t>Where:</a:t>
            </a:r>
          </a:p>
          <a:p>
            <a:pPr lvl="2"/>
            <a:r>
              <a:rPr lang="en-US" dirty="0">
                <a:latin typeface="Times New Roman" panose="02020603050405020304" pitchFamily="18" charset="0"/>
                <a:cs typeface="Times New Roman" panose="02020603050405020304" pitchFamily="18" charset="0"/>
              </a:rPr>
              <a:t>𝐻(𝑥): Desired underlying function</a:t>
            </a:r>
          </a:p>
          <a:p>
            <a:pPr lvl="2"/>
            <a:r>
              <a:rPr lang="en-US" dirty="0">
                <a:latin typeface="Times New Roman" panose="02020603050405020304" pitchFamily="18" charset="0"/>
                <a:cs typeface="Times New Roman" panose="02020603050405020304" pitchFamily="18" charset="0"/>
              </a:rPr>
              <a:t>F(x): Residual function to be learned</a:t>
            </a:r>
          </a:p>
          <a:p>
            <a:pPr lvl="2"/>
            <a:r>
              <a:rPr lang="en-US" dirty="0">
                <a:latin typeface="Times New Roman" panose="02020603050405020304" pitchFamily="18" charset="0"/>
                <a:cs typeface="Times New Roman" panose="02020603050405020304" pitchFamily="18" charset="0"/>
              </a:rPr>
              <a:t>𝑥: Input to the layer</a:t>
            </a:r>
          </a:p>
          <a:p>
            <a:r>
              <a:rPr lang="en-US" dirty="0">
                <a:latin typeface="Times New Roman" panose="02020603050405020304" pitchFamily="18" charset="0"/>
                <a:cs typeface="Times New Roman" panose="02020603050405020304" pitchFamily="18" charset="0"/>
              </a:rPr>
              <a:t>Key Observations</a:t>
            </a:r>
          </a:p>
          <a:p>
            <a:pPr lvl="1"/>
            <a:r>
              <a:rPr lang="en-US" dirty="0">
                <a:latin typeface="Times New Roman" panose="02020603050405020304" pitchFamily="18" charset="0"/>
                <a:cs typeface="Times New Roman" panose="02020603050405020304" pitchFamily="18" charset="0"/>
              </a:rPr>
              <a:t>When the optimal function is the identity, residual networks can easily learn this by zeroing out 𝐹(𝑥).</a:t>
            </a:r>
          </a:p>
          <a:p>
            <a:pPr lvl="1"/>
            <a:r>
              <a:rPr lang="en-US" dirty="0">
                <a:latin typeface="Times New Roman" panose="02020603050405020304" pitchFamily="18" charset="0"/>
                <a:cs typeface="Times New Roman" panose="02020603050405020304" pitchFamily="18" charset="0"/>
              </a:rPr>
              <a:t>Gradients can flow through identity connections without being diminished, thus solving the vanishing gradient problem.</a:t>
            </a:r>
          </a:p>
          <a:p>
            <a:pPr lvl="1"/>
            <a:r>
              <a:rPr lang="en-US" dirty="0">
                <a:latin typeface="Times New Roman" panose="02020603050405020304" pitchFamily="18" charset="0"/>
                <a:cs typeface="Times New Roman" panose="02020603050405020304" pitchFamily="18" charset="0"/>
              </a:rPr>
              <a:t>Residual blocks act like gradient highways through the network.</a:t>
            </a:r>
          </a:p>
        </p:txBody>
      </p:sp>
    </p:spTree>
    <p:extLst>
      <p:ext uri="{BB962C8B-B14F-4D97-AF65-F5344CB8AC3E}">
        <p14:creationId xmlns:p14="http://schemas.microsoft.com/office/powerpoint/2010/main" val="3926322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771D4-69AE-AC3F-1C24-06C9CFCE43A4}"/>
              </a:ext>
            </a:extLst>
          </p:cNvPr>
          <p:cNvSpPr>
            <a:spLocks noGrp="1"/>
          </p:cNvSpPr>
          <p:nvPr>
            <p:ph type="title"/>
          </p:nvPr>
        </p:nvSpPr>
        <p:spPr/>
        <p:txBody>
          <a:bodyPr>
            <a:normAutofit/>
          </a:bodyPr>
          <a:lstStyle/>
          <a:p>
            <a:r>
              <a:rPr lang="en-US" b="1" dirty="0"/>
              <a:t>Building Block Diagram</a:t>
            </a:r>
            <a:endParaRPr lang="en-US" dirty="0"/>
          </a:p>
        </p:txBody>
      </p:sp>
      <p:pic>
        <p:nvPicPr>
          <p:cNvPr id="5" name="Content Placeholder 4">
            <a:extLst>
              <a:ext uri="{FF2B5EF4-FFF2-40B4-BE49-F238E27FC236}">
                <a16:creationId xmlns:a16="http://schemas.microsoft.com/office/drawing/2014/main" id="{FDB2FF35-AD92-116D-9EEB-ABC38B0CC601}"/>
              </a:ext>
            </a:extLst>
          </p:cNvPr>
          <p:cNvPicPr>
            <a:picLocks noGrp="1" noChangeAspect="1"/>
          </p:cNvPicPr>
          <p:nvPr>
            <p:ph idx="1"/>
          </p:nvPr>
        </p:nvPicPr>
        <p:blipFill>
          <a:blip r:embed="rId2"/>
          <a:stretch>
            <a:fillRect/>
          </a:stretch>
        </p:blipFill>
        <p:spPr>
          <a:xfrm>
            <a:off x="2792186" y="1788173"/>
            <a:ext cx="5872843" cy="4837529"/>
          </a:xfrm>
        </p:spPr>
      </p:pic>
    </p:spTree>
    <p:extLst>
      <p:ext uri="{BB962C8B-B14F-4D97-AF65-F5344CB8AC3E}">
        <p14:creationId xmlns:p14="http://schemas.microsoft.com/office/powerpoint/2010/main" val="473055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E9311-0C87-F853-2D64-7273D915F076}"/>
              </a:ext>
            </a:extLst>
          </p:cNvPr>
          <p:cNvSpPr>
            <a:spLocks noGrp="1"/>
          </p:cNvSpPr>
          <p:nvPr>
            <p:ph type="title"/>
          </p:nvPr>
        </p:nvSpPr>
        <p:spPr/>
        <p:txBody>
          <a:bodyPr>
            <a:normAutofit/>
          </a:bodyPr>
          <a:lstStyle/>
          <a:p>
            <a:r>
              <a:rPr lang="en-US" b="1" dirty="0" err="1">
                <a:latin typeface="Times New Roman" panose="02020603050405020304" pitchFamily="18" charset="0"/>
                <a:cs typeface="Times New Roman" panose="02020603050405020304" pitchFamily="18" charset="0"/>
              </a:rPr>
              <a:t>ResNet</a:t>
            </a:r>
            <a:r>
              <a:rPr lang="en-US" b="1" dirty="0">
                <a:latin typeface="Times New Roman" panose="02020603050405020304" pitchFamily="18" charset="0"/>
                <a:cs typeface="Times New Roman" panose="02020603050405020304" pitchFamily="18" charset="0"/>
              </a:rPr>
              <a:t> Architectures</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E7C7AA0-F1F0-FED7-8BA2-FD6CBA2242CC}"/>
              </a:ext>
            </a:extLst>
          </p:cNvPr>
          <p:cNvSpPr>
            <a:spLocks noGrp="1"/>
          </p:cNvSpPr>
          <p:nvPr>
            <p:ph idx="1"/>
          </p:nvPr>
        </p:nvSpPr>
        <p:spPr>
          <a:xfrm>
            <a:off x="913795" y="1719943"/>
            <a:ext cx="10353762" cy="4974771"/>
          </a:xfrm>
        </p:spPr>
        <p:txBody>
          <a:bodyPr>
            <a:normAutofit fontScale="85000" lnSpcReduction="20000"/>
          </a:bodyPr>
          <a:lstStyle/>
          <a:p>
            <a:r>
              <a:rPr lang="en-US" b="1" dirty="0">
                <a:latin typeface="Times New Roman" panose="02020603050405020304" pitchFamily="18" charset="0"/>
                <a:cs typeface="Times New Roman" panose="02020603050405020304" pitchFamily="18" charset="0"/>
              </a:rPr>
              <a:t>Plain vs. Residual Networks</a:t>
            </a:r>
          </a:p>
          <a:p>
            <a:pPr lvl="1"/>
            <a:r>
              <a:rPr lang="en-US" b="1" dirty="0">
                <a:latin typeface="Times New Roman" panose="02020603050405020304" pitchFamily="18" charset="0"/>
                <a:cs typeface="Times New Roman" panose="02020603050405020304" pitchFamily="18" charset="0"/>
              </a:rPr>
              <a:t>18-layer and 34-layer plain networks vs. their residual counterparts showed significant degradation in the plain version.</a:t>
            </a:r>
          </a:p>
          <a:p>
            <a:pPr lvl="1"/>
            <a:r>
              <a:rPr lang="en-US" b="1" dirty="0">
                <a:latin typeface="Times New Roman" panose="02020603050405020304" pitchFamily="18" charset="0"/>
                <a:cs typeface="Times New Roman" panose="02020603050405020304" pitchFamily="18" charset="0"/>
              </a:rPr>
              <a:t>With residual connections, deeper models performed significantly better.</a:t>
            </a:r>
          </a:p>
          <a:p>
            <a:r>
              <a:rPr lang="en-US" b="1" dirty="0">
                <a:latin typeface="Times New Roman" panose="02020603050405020304" pitchFamily="18" charset="0"/>
                <a:cs typeface="Times New Roman" panose="02020603050405020304" pitchFamily="18" charset="0"/>
              </a:rPr>
              <a:t>Building Blocks</a:t>
            </a:r>
          </a:p>
          <a:p>
            <a:pPr lvl="1"/>
            <a:r>
              <a:rPr lang="en-US" b="1" dirty="0">
                <a:latin typeface="Times New Roman" panose="02020603050405020304" pitchFamily="18" charset="0"/>
                <a:cs typeface="Times New Roman" panose="02020603050405020304" pitchFamily="18" charset="0"/>
              </a:rPr>
              <a:t>Two main types:</a:t>
            </a:r>
          </a:p>
          <a:p>
            <a:pPr marL="1152900" lvl="2" indent="-342900">
              <a:buFont typeface="+mj-lt"/>
              <a:buAutoNum type="arabicPeriod"/>
            </a:pPr>
            <a:r>
              <a:rPr lang="en-US" b="1" dirty="0">
                <a:latin typeface="Times New Roman" panose="02020603050405020304" pitchFamily="18" charset="0"/>
                <a:cs typeface="Times New Roman" panose="02020603050405020304" pitchFamily="18" charset="0"/>
              </a:rPr>
              <a:t>Basic Block (used in shallower networks like ResNet-18/34):</a:t>
            </a:r>
          </a:p>
          <a:p>
            <a:pPr marL="1512900" lvl="3" indent="-342900">
              <a:buFont typeface="+mj-lt"/>
              <a:buAutoNum type="arabicPeriod"/>
            </a:pPr>
            <a:r>
              <a:rPr lang="en-US" b="1" dirty="0">
                <a:latin typeface="Times New Roman" panose="02020603050405020304" pitchFamily="18" charset="0"/>
                <a:cs typeface="Times New Roman" panose="02020603050405020304" pitchFamily="18" charset="0"/>
              </a:rPr>
              <a:t>Two 3x3 convolutional layers with identity shortcut.</a:t>
            </a:r>
          </a:p>
          <a:p>
            <a:pPr marL="1152900" lvl="2" indent="-342900">
              <a:buFont typeface="+mj-lt"/>
              <a:buAutoNum type="arabicPeriod"/>
            </a:pPr>
            <a:r>
              <a:rPr lang="en-US" b="1" dirty="0">
                <a:latin typeface="Times New Roman" panose="02020603050405020304" pitchFamily="18" charset="0"/>
                <a:cs typeface="Times New Roman" panose="02020603050405020304" pitchFamily="18" charset="0"/>
              </a:rPr>
              <a:t>Bottleneck Block (used in deeper networks like ResNet-50/101/152):</a:t>
            </a:r>
          </a:p>
          <a:p>
            <a:pPr marL="1512900" lvl="3" indent="-342900">
              <a:buFont typeface="+mj-lt"/>
              <a:buAutoNum type="arabicPeriod"/>
            </a:pPr>
            <a:r>
              <a:rPr lang="en-US" b="1" dirty="0">
                <a:latin typeface="Times New Roman" panose="02020603050405020304" pitchFamily="18" charset="0"/>
                <a:cs typeface="Times New Roman" panose="02020603050405020304" pitchFamily="18" charset="0"/>
              </a:rPr>
              <a:t>A stack of: 1x1 → 3x3 → 1x1 convolutions</a:t>
            </a:r>
          </a:p>
          <a:p>
            <a:pPr marL="1512900" lvl="3" indent="-342900">
              <a:buFont typeface="+mj-lt"/>
              <a:buAutoNum type="arabicPeriod"/>
            </a:pPr>
            <a:r>
              <a:rPr lang="en-US" b="1" dirty="0">
                <a:latin typeface="Times New Roman" panose="02020603050405020304" pitchFamily="18" charset="0"/>
                <a:cs typeface="Times New Roman" panose="02020603050405020304" pitchFamily="18" charset="0"/>
              </a:rPr>
              <a:t>Reduces and then expands dimensions for computational efficiency.</a:t>
            </a:r>
          </a:p>
          <a:p>
            <a:pPr marL="469800" indent="-342900"/>
            <a:r>
              <a:rPr lang="en-US" b="1" dirty="0">
                <a:latin typeface="Times New Roman" panose="02020603050405020304" pitchFamily="18" charset="0"/>
                <a:cs typeface="Times New Roman" panose="02020603050405020304" pitchFamily="18" charset="0"/>
              </a:rPr>
              <a:t>Shortcut Types</a:t>
            </a:r>
          </a:p>
          <a:p>
            <a:pPr marL="846900" lvl="1" indent="-342900"/>
            <a:r>
              <a:rPr lang="en-US" b="1" dirty="0">
                <a:latin typeface="Times New Roman" panose="02020603050405020304" pitchFamily="18" charset="0"/>
                <a:cs typeface="Times New Roman" panose="02020603050405020304" pitchFamily="18" charset="0"/>
              </a:rPr>
              <a:t>Identity Shortcut: Used when input and output dimensions match.</a:t>
            </a:r>
          </a:p>
          <a:p>
            <a:pPr marL="846900" lvl="1" indent="-342900"/>
            <a:r>
              <a:rPr lang="en-US" b="1" dirty="0">
                <a:latin typeface="Times New Roman" panose="02020603050405020304" pitchFamily="18" charset="0"/>
                <a:cs typeface="Times New Roman" panose="02020603050405020304" pitchFamily="18" charset="0"/>
              </a:rPr>
              <a:t>Projection Shortcut (via 1x1 conv): Used when dimensions differ or when </a:t>
            </a:r>
            <a:r>
              <a:rPr lang="en-US" b="1" dirty="0" err="1">
                <a:latin typeface="Times New Roman" panose="02020603050405020304" pitchFamily="18" charset="0"/>
                <a:cs typeface="Times New Roman" panose="02020603050405020304" pitchFamily="18" charset="0"/>
              </a:rPr>
              <a:t>downsampling</a:t>
            </a:r>
            <a:r>
              <a:rPr lang="en-US" b="1" dirty="0">
                <a:latin typeface="Times New Roman" panose="02020603050405020304" pitchFamily="18" charset="0"/>
                <a:cs typeface="Times New Roman" panose="02020603050405020304" pitchFamily="18" charset="0"/>
              </a:rPr>
              <a:t> is needed.</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9755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BA8B1-2050-662F-9F3A-98BECF09F8E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Experimental Setup</a:t>
            </a:r>
          </a:p>
        </p:txBody>
      </p:sp>
      <p:sp>
        <p:nvSpPr>
          <p:cNvPr id="3" name="Content Placeholder 2">
            <a:extLst>
              <a:ext uri="{FF2B5EF4-FFF2-40B4-BE49-F238E27FC236}">
                <a16:creationId xmlns:a16="http://schemas.microsoft.com/office/drawing/2014/main" id="{C2F91D4D-47B8-3D19-4365-041B2CEC0066}"/>
              </a:ext>
            </a:extLst>
          </p:cNvPr>
          <p:cNvSpPr>
            <a:spLocks noGrp="1"/>
          </p:cNvSpPr>
          <p:nvPr>
            <p:ph idx="1"/>
          </p:nvPr>
        </p:nvSpPr>
        <p:spPr>
          <a:xfrm>
            <a:off x="913795" y="1714500"/>
            <a:ext cx="10353762" cy="5056414"/>
          </a:xfrm>
        </p:spPr>
        <p:txBody>
          <a:bodyPr>
            <a:normAutofit fontScale="77500" lnSpcReduction="20000"/>
          </a:bodyPr>
          <a:lstStyle/>
          <a:p>
            <a:r>
              <a:rPr lang="en-US" b="1" dirty="0">
                <a:latin typeface="Times New Roman" panose="02020603050405020304" pitchFamily="18" charset="0"/>
                <a:cs typeface="Times New Roman" panose="02020603050405020304" pitchFamily="18" charset="0"/>
              </a:rPr>
              <a:t>Datasets</a:t>
            </a:r>
          </a:p>
          <a:p>
            <a:pPr marL="756900" lvl="1" indent="-342900"/>
            <a:r>
              <a:rPr lang="en-US" b="1" dirty="0">
                <a:latin typeface="Times New Roman" panose="02020603050405020304" pitchFamily="18" charset="0"/>
                <a:cs typeface="Times New Roman" panose="02020603050405020304" pitchFamily="18" charset="0"/>
              </a:rPr>
              <a:t>ImageNet</a:t>
            </a:r>
            <a:r>
              <a:rPr lang="en-US" dirty="0">
                <a:latin typeface="Times New Roman" panose="02020603050405020304" pitchFamily="18" charset="0"/>
                <a:cs typeface="Times New Roman" panose="02020603050405020304" pitchFamily="18" charset="0"/>
              </a:rPr>
              <a:t> (ILSVRC 2012): 1.2M training images, 1000 classes</a:t>
            </a:r>
          </a:p>
          <a:p>
            <a:pPr lvl="1"/>
            <a:r>
              <a:rPr lang="en-US" b="1" dirty="0">
                <a:latin typeface="Times New Roman" panose="02020603050405020304" pitchFamily="18" charset="0"/>
                <a:cs typeface="Times New Roman" panose="02020603050405020304" pitchFamily="18" charset="0"/>
              </a:rPr>
              <a:t>CIFAR-10</a:t>
            </a:r>
            <a:r>
              <a:rPr lang="en-US" dirty="0">
                <a:latin typeface="Times New Roman" panose="02020603050405020304" pitchFamily="18" charset="0"/>
                <a:cs typeface="Times New Roman" panose="02020603050405020304" pitchFamily="18" charset="0"/>
              </a:rPr>
              <a:t>: 60K images (32x32), 10 classes</a:t>
            </a:r>
          </a:p>
          <a:p>
            <a:r>
              <a:rPr lang="en-US" b="1" dirty="0">
                <a:latin typeface="Times New Roman" panose="02020603050405020304" pitchFamily="18" charset="0"/>
                <a:cs typeface="Times New Roman" panose="02020603050405020304" pitchFamily="18" charset="0"/>
              </a:rPr>
              <a:t>Training Details</a:t>
            </a:r>
          </a:p>
          <a:p>
            <a:pPr lvl="1"/>
            <a:r>
              <a:rPr lang="en-US" b="1" dirty="0">
                <a:latin typeface="Times New Roman" panose="02020603050405020304" pitchFamily="18" charset="0"/>
                <a:cs typeface="Times New Roman" panose="02020603050405020304" pitchFamily="18" charset="0"/>
              </a:rPr>
              <a:t>Optimizer</a:t>
            </a:r>
            <a:r>
              <a:rPr lang="en-US" dirty="0">
                <a:latin typeface="Times New Roman" panose="02020603050405020304" pitchFamily="18" charset="0"/>
                <a:cs typeface="Times New Roman" panose="02020603050405020304" pitchFamily="18" charset="0"/>
              </a:rPr>
              <a:t>: Stochastic Gradient Descent (SGD) with momentum (0.9)</a:t>
            </a:r>
          </a:p>
          <a:p>
            <a:pPr marL="756900" lvl="1" indent="-342900"/>
            <a:r>
              <a:rPr lang="en-US" b="1" dirty="0">
                <a:latin typeface="Times New Roman" panose="02020603050405020304" pitchFamily="18" charset="0"/>
                <a:cs typeface="Times New Roman" panose="02020603050405020304" pitchFamily="18" charset="0"/>
              </a:rPr>
              <a:t>Learning Rate Strategy</a:t>
            </a:r>
            <a:r>
              <a:rPr lang="en-US" dirty="0">
                <a:latin typeface="Times New Roman" panose="02020603050405020304" pitchFamily="18" charset="0"/>
                <a:cs typeface="Times New Roman" panose="02020603050405020304" pitchFamily="18" charset="0"/>
              </a:rPr>
              <a:t>:</a:t>
            </a:r>
          </a:p>
          <a:p>
            <a:pPr marL="1106100" lvl="2" indent="-342900">
              <a:buFont typeface="+mj-lt"/>
              <a:buAutoNum type="arabicPeriod"/>
            </a:pPr>
            <a:r>
              <a:rPr lang="en-US" dirty="0">
                <a:latin typeface="Times New Roman" panose="02020603050405020304" pitchFamily="18" charset="0"/>
                <a:cs typeface="Times New Roman" panose="02020603050405020304" pitchFamily="18" charset="0"/>
              </a:rPr>
              <a:t>Initial LR: 0.1</a:t>
            </a:r>
          </a:p>
          <a:p>
            <a:pPr marL="1106100" lvl="2" indent="-342900">
              <a:buFont typeface="+mj-lt"/>
              <a:buAutoNum type="arabicPeriod"/>
            </a:pPr>
            <a:r>
              <a:rPr lang="en-US" dirty="0">
                <a:latin typeface="Times New Roman" panose="02020603050405020304" pitchFamily="18" charset="0"/>
                <a:cs typeface="Times New Roman" panose="02020603050405020304" pitchFamily="18" charset="0"/>
              </a:rPr>
              <a:t>Step decay: divide by 10 at defined epochs</a:t>
            </a:r>
          </a:p>
          <a:p>
            <a:r>
              <a:rPr lang="en-US" b="1" dirty="0">
                <a:latin typeface="Times New Roman" panose="02020603050405020304" pitchFamily="18" charset="0"/>
                <a:cs typeface="Times New Roman" panose="02020603050405020304" pitchFamily="18" charset="0"/>
              </a:rPr>
              <a:t>Normalization</a:t>
            </a:r>
            <a:r>
              <a:rPr lang="en-US" dirty="0">
                <a:latin typeface="Times New Roman" panose="02020603050405020304" pitchFamily="18" charset="0"/>
                <a:cs typeface="Times New Roman" panose="02020603050405020304" pitchFamily="18" charset="0"/>
              </a:rPr>
              <a:t>: Batch Normalization after each convolution</a:t>
            </a:r>
          </a:p>
          <a:p>
            <a:r>
              <a:rPr lang="en-US" b="1" dirty="0">
                <a:latin typeface="Times New Roman" panose="02020603050405020304" pitchFamily="18" charset="0"/>
                <a:cs typeface="Times New Roman" panose="02020603050405020304" pitchFamily="18" charset="0"/>
              </a:rPr>
              <a:t>Regularization</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No dropout used</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Weight decay: 1e-4</a:t>
            </a:r>
          </a:p>
          <a:p>
            <a:r>
              <a:rPr lang="en-US" b="1" dirty="0">
                <a:latin typeface="Times New Roman" panose="02020603050405020304" pitchFamily="18" charset="0"/>
                <a:cs typeface="Times New Roman" panose="02020603050405020304" pitchFamily="18" charset="0"/>
              </a:rPr>
              <a:t>Testing Enhancements</a:t>
            </a:r>
            <a:r>
              <a:rPr lang="en-US" dirty="0">
                <a:latin typeface="Times New Roman" panose="02020603050405020304" pitchFamily="18" charset="0"/>
                <a:cs typeface="Times New Roman" panose="02020603050405020304" pitchFamily="18" charset="0"/>
              </a:rPr>
              <a:t>:</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10-crop testing</a:t>
            </a:r>
          </a:p>
          <a:p>
            <a:pPr marL="742950" lvl="1"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Multi-scale inference for robust evaluation</a:t>
            </a:r>
          </a:p>
        </p:txBody>
      </p:sp>
    </p:spTree>
    <p:extLst>
      <p:ext uri="{BB962C8B-B14F-4D97-AF65-F5344CB8AC3E}">
        <p14:creationId xmlns:p14="http://schemas.microsoft.com/office/powerpoint/2010/main" val="179881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81229-B722-767E-5474-B8804D23CA4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ImageNet Results</a:t>
            </a:r>
          </a:p>
        </p:txBody>
      </p:sp>
      <p:sp>
        <p:nvSpPr>
          <p:cNvPr id="3" name="Content Placeholder 2">
            <a:extLst>
              <a:ext uri="{FF2B5EF4-FFF2-40B4-BE49-F238E27FC236}">
                <a16:creationId xmlns:a16="http://schemas.microsoft.com/office/drawing/2014/main" id="{42F1C3FF-0182-7176-AF94-2D9BAA7C6F00}"/>
              </a:ext>
            </a:extLst>
          </p:cNvPr>
          <p:cNvSpPr>
            <a:spLocks noGrp="1"/>
          </p:cNvSpPr>
          <p:nvPr>
            <p:ph idx="1"/>
          </p:nvPr>
        </p:nvSpPr>
        <p:spPr>
          <a:xfrm>
            <a:off x="913795" y="2076450"/>
            <a:ext cx="10353762" cy="4460421"/>
          </a:xfrm>
        </p:spPr>
        <p:txBody>
          <a:bodyPr>
            <a:normAutofit/>
          </a:bodyPr>
          <a:lstStyle/>
          <a:p>
            <a:r>
              <a:rPr lang="en-US" dirty="0">
                <a:latin typeface="Times New Roman" panose="02020603050405020304" pitchFamily="18" charset="0"/>
                <a:cs typeface="Times New Roman" panose="02020603050405020304" pitchFamily="18" charset="0"/>
              </a:rPr>
              <a:t>ResNet-152 achieved 3.57% top-5 error — a new benchmark at the time.</a:t>
            </a:r>
          </a:p>
          <a:p>
            <a:r>
              <a:rPr lang="en-US" dirty="0">
                <a:latin typeface="Times New Roman" panose="02020603050405020304" pitchFamily="18" charset="0"/>
                <a:cs typeface="Times New Roman" panose="02020603050405020304" pitchFamily="18" charset="0"/>
              </a:rPr>
              <a:t>Outperformed:</a:t>
            </a:r>
          </a:p>
          <a:p>
            <a:pPr lvl="1"/>
            <a:r>
              <a:rPr lang="en-US" dirty="0" err="1">
                <a:latin typeface="Times New Roman" panose="02020603050405020304" pitchFamily="18" charset="0"/>
                <a:cs typeface="Times New Roman" panose="02020603050405020304" pitchFamily="18" charset="0"/>
              </a:rPr>
              <a:t>GoogLeNet</a:t>
            </a:r>
            <a:r>
              <a:rPr lang="en-US" dirty="0">
                <a:latin typeface="Times New Roman" panose="02020603050405020304" pitchFamily="18" charset="0"/>
                <a:cs typeface="Times New Roman" panose="02020603050405020304" pitchFamily="18" charset="0"/>
              </a:rPr>
              <a:t> (Inception): ~6.7% top-5 error</a:t>
            </a:r>
          </a:p>
          <a:p>
            <a:pPr lvl="1"/>
            <a:r>
              <a:rPr lang="en-US" dirty="0">
                <a:latin typeface="Times New Roman" panose="02020603050405020304" pitchFamily="18" charset="0"/>
                <a:cs typeface="Times New Roman" panose="02020603050405020304" pitchFamily="18" charset="0"/>
              </a:rPr>
              <a:t>VGG-19: ~7.3% top-5 error</a:t>
            </a:r>
          </a:p>
          <a:p>
            <a:r>
              <a:rPr lang="en-US" dirty="0">
                <a:latin typeface="Times New Roman" panose="02020603050405020304" pitchFamily="18" charset="0"/>
                <a:cs typeface="Times New Roman" panose="02020603050405020304" pitchFamily="18" charset="0"/>
              </a:rPr>
              <a:t>Deeper = Better (up to a point):</a:t>
            </a:r>
          </a:p>
          <a:p>
            <a:pPr lvl="1"/>
            <a:r>
              <a:rPr lang="en-US" dirty="0">
                <a:latin typeface="Times New Roman" panose="02020603050405020304" pitchFamily="18" charset="0"/>
                <a:cs typeface="Times New Roman" panose="02020603050405020304" pitchFamily="18" charset="0"/>
              </a:rPr>
              <a:t>ResNet-50, 101, and 152 showed consistent improvements.</a:t>
            </a:r>
          </a:p>
          <a:p>
            <a:r>
              <a:rPr lang="en-US" dirty="0">
                <a:latin typeface="Times New Roman" panose="02020603050405020304" pitchFamily="18" charset="0"/>
                <a:cs typeface="Times New Roman" panose="02020603050405020304" pitchFamily="18" charset="0"/>
              </a:rPr>
              <a:t>ILSVRC 2015 Champion:</a:t>
            </a:r>
          </a:p>
          <a:p>
            <a:pPr lvl="1"/>
            <a:r>
              <a:rPr lang="en-US" dirty="0">
                <a:latin typeface="Times New Roman" panose="02020603050405020304" pitchFamily="18" charset="0"/>
                <a:cs typeface="Times New Roman" panose="02020603050405020304" pitchFamily="18" charset="0"/>
              </a:rPr>
              <a:t>Ensemble of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won the classification task.</a:t>
            </a:r>
          </a:p>
        </p:txBody>
      </p:sp>
    </p:spTree>
    <p:extLst>
      <p:ext uri="{BB962C8B-B14F-4D97-AF65-F5344CB8AC3E}">
        <p14:creationId xmlns:p14="http://schemas.microsoft.com/office/powerpoint/2010/main" val="2084511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B92A2-CDBB-A466-DAA0-8BF56CADFF5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CIFAR-10 Results</a:t>
            </a:r>
          </a:p>
        </p:txBody>
      </p:sp>
      <p:sp>
        <p:nvSpPr>
          <p:cNvPr id="3" name="Content Placeholder 2">
            <a:extLst>
              <a:ext uri="{FF2B5EF4-FFF2-40B4-BE49-F238E27FC236}">
                <a16:creationId xmlns:a16="http://schemas.microsoft.com/office/drawing/2014/main" id="{D0BAC317-CE05-ED71-517B-3E7107EC9B77}"/>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Trained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with up to </a:t>
            </a:r>
            <a:r>
              <a:rPr lang="en-US" b="1" dirty="0">
                <a:latin typeface="Times New Roman" panose="02020603050405020304" pitchFamily="18" charset="0"/>
                <a:cs typeface="Times New Roman" panose="02020603050405020304" pitchFamily="18" charset="0"/>
              </a:rPr>
              <a:t>1202 layers</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Traditional networks failed beyond 20–30 layers.</a:t>
            </a:r>
          </a:p>
          <a:p>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maintained or improved accuracy with depth.</a:t>
            </a:r>
          </a:p>
          <a:p>
            <a:r>
              <a:rPr lang="en-US" b="1" dirty="0">
                <a:latin typeface="Times New Roman" panose="02020603050405020304" pitchFamily="18" charset="0"/>
                <a:cs typeface="Times New Roman" panose="02020603050405020304" pitchFamily="18" charset="0"/>
              </a:rPr>
              <a:t>Insight</a:t>
            </a:r>
            <a:r>
              <a:rPr lang="en-US" dirty="0">
                <a:latin typeface="Times New Roman" panose="02020603050405020304" pitchFamily="18" charset="0"/>
                <a:cs typeface="Times New Roman" panose="02020603050405020304" pitchFamily="18" charset="0"/>
              </a:rPr>
              <a:t>: Residual functions tend to have smaller magnitudes, leading to better generalization and optimization.</a:t>
            </a:r>
          </a:p>
        </p:txBody>
      </p:sp>
    </p:spTree>
    <p:extLst>
      <p:ext uri="{BB962C8B-B14F-4D97-AF65-F5344CB8AC3E}">
        <p14:creationId xmlns:p14="http://schemas.microsoft.com/office/powerpoint/2010/main" val="796254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02EF8-3580-D524-4E59-88E856FCCBD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Object Detection Results</a:t>
            </a:r>
          </a:p>
        </p:txBody>
      </p:sp>
      <p:sp>
        <p:nvSpPr>
          <p:cNvPr id="3" name="Content Placeholder 2">
            <a:extLst>
              <a:ext uri="{FF2B5EF4-FFF2-40B4-BE49-F238E27FC236}">
                <a16:creationId xmlns:a16="http://schemas.microsoft.com/office/drawing/2014/main" id="{01A5E447-8FD5-AB03-7E6A-5AFF515A0851}"/>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Trained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with up to </a:t>
            </a:r>
            <a:r>
              <a:rPr lang="en-US" b="1" dirty="0">
                <a:latin typeface="Times New Roman" panose="02020603050405020304" pitchFamily="18" charset="0"/>
                <a:cs typeface="Times New Roman" panose="02020603050405020304" pitchFamily="18" charset="0"/>
              </a:rPr>
              <a:t>1202 layers</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Traditional networks failed beyond 20–30 layers.</a:t>
            </a:r>
          </a:p>
          <a:p>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maintained or improved accuracy with depth.</a:t>
            </a:r>
          </a:p>
          <a:p>
            <a:r>
              <a:rPr lang="en-US" b="1" dirty="0">
                <a:latin typeface="Times New Roman" panose="02020603050405020304" pitchFamily="18" charset="0"/>
                <a:cs typeface="Times New Roman" panose="02020603050405020304" pitchFamily="18" charset="0"/>
              </a:rPr>
              <a:t>Insight</a:t>
            </a:r>
            <a:r>
              <a:rPr lang="en-US" dirty="0">
                <a:latin typeface="Times New Roman" panose="02020603050405020304" pitchFamily="18" charset="0"/>
                <a:cs typeface="Times New Roman" panose="02020603050405020304" pitchFamily="18" charset="0"/>
              </a:rPr>
              <a:t>: Residual functions tend to have smaller magnitudes, leading to better generalization and optimization.</a:t>
            </a:r>
          </a:p>
        </p:txBody>
      </p:sp>
    </p:spTree>
    <p:extLst>
      <p:ext uri="{BB962C8B-B14F-4D97-AF65-F5344CB8AC3E}">
        <p14:creationId xmlns:p14="http://schemas.microsoft.com/office/powerpoint/2010/main" val="1979322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77DAE-79E5-0699-5AE4-453208CFD33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Application to Object Detection</a:t>
            </a:r>
          </a:p>
        </p:txBody>
      </p:sp>
      <p:sp>
        <p:nvSpPr>
          <p:cNvPr id="3" name="Content Placeholder 2">
            <a:extLst>
              <a:ext uri="{FF2B5EF4-FFF2-40B4-BE49-F238E27FC236}">
                <a16:creationId xmlns:a16="http://schemas.microsoft.com/office/drawing/2014/main" id="{F95FB10A-F3BD-2FE4-C60A-E2600BDEC480}"/>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Integrated into Faster R-CNN for object detection tasks.</a:t>
            </a:r>
          </a:p>
          <a:p>
            <a:r>
              <a:rPr lang="en-US" dirty="0">
                <a:latin typeface="Times New Roman" panose="02020603050405020304" pitchFamily="18" charset="0"/>
                <a:cs typeface="Times New Roman" panose="02020603050405020304" pitchFamily="18" charset="0"/>
              </a:rPr>
              <a:t>Benchmarks:</a:t>
            </a:r>
          </a:p>
          <a:p>
            <a:pPr lvl="1"/>
            <a:r>
              <a:rPr lang="en-US" dirty="0">
                <a:latin typeface="Times New Roman" panose="02020603050405020304" pitchFamily="18" charset="0"/>
                <a:cs typeface="Times New Roman" panose="02020603050405020304" pitchFamily="18" charset="0"/>
              </a:rPr>
              <a:t>PASCAL VOC</a:t>
            </a:r>
          </a:p>
          <a:p>
            <a:pPr lvl="1"/>
            <a:r>
              <a:rPr lang="en-US" dirty="0">
                <a:latin typeface="Times New Roman" panose="02020603050405020304" pitchFamily="18" charset="0"/>
                <a:cs typeface="Times New Roman" panose="02020603050405020304" pitchFamily="18" charset="0"/>
              </a:rPr>
              <a:t>MS COCO</a:t>
            </a:r>
          </a:p>
          <a:p>
            <a:r>
              <a:rPr lang="en-US" dirty="0">
                <a:latin typeface="Times New Roman" panose="02020603050405020304" pitchFamily="18" charset="0"/>
                <a:cs typeface="Times New Roman" panose="02020603050405020304" pitchFamily="18" charset="0"/>
              </a:rPr>
              <a:t>Performance:</a:t>
            </a:r>
          </a:p>
          <a:p>
            <a:pPr lvl="1"/>
            <a:r>
              <a:rPr lang="en-US" dirty="0">
                <a:latin typeface="Times New Roman" panose="02020603050405020304" pitchFamily="18" charset="0"/>
                <a:cs typeface="Times New Roman" panose="02020603050405020304" pitchFamily="18" charset="0"/>
              </a:rPr>
              <a:t>Significant </a:t>
            </a:r>
            <a:r>
              <a:rPr lang="en-US" dirty="0" err="1">
                <a:latin typeface="Times New Roman" panose="02020603050405020304" pitchFamily="18" charset="0"/>
                <a:cs typeface="Times New Roman" panose="02020603050405020304" pitchFamily="18" charset="0"/>
              </a:rPr>
              <a:t>mAP</a:t>
            </a:r>
            <a:r>
              <a:rPr lang="en-US" dirty="0">
                <a:latin typeface="Times New Roman" panose="02020603050405020304" pitchFamily="18" charset="0"/>
                <a:cs typeface="Times New Roman" panose="02020603050405020304" pitchFamily="18" charset="0"/>
              </a:rPr>
              <a:t> improvement over VGG-16 backbone.</a:t>
            </a:r>
          </a:p>
          <a:p>
            <a:pPr lvl="1"/>
            <a:r>
              <a:rPr lang="en-US" dirty="0">
                <a:latin typeface="Times New Roman" panose="02020603050405020304" pitchFamily="18" charset="0"/>
                <a:cs typeface="Times New Roman" panose="02020603050405020304" pitchFamily="18" charset="0"/>
              </a:rPr>
              <a:t>Demonstrated </a:t>
            </a:r>
            <a:r>
              <a:rPr lang="en-US" dirty="0" err="1">
                <a:latin typeface="Times New Roman" panose="02020603050405020304" pitchFamily="18" charset="0"/>
                <a:cs typeface="Times New Roman" panose="02020603050405020304" pitchFamily="18" charset="0"/>
              </a:rPr>
              <a:t>ResNet’s</a:t>
            </a:r>
            <a:r>
              <a:rPr lang="en-US" dirty="0">
                <a:latin typeface="Times New Roman" panose="02020603050405020304" pitchFamily="18" charset="0"/>
                <a:cs typeface="Times New Roman" panose="02020603050405020304" pitchFamily="18" charset="0"/>
              </a:rPr>
              <a:t> versatility beyond classification.</a:t>
            </a:r>
          </a:p>
        </p:txBody>
      </p:sp>
    </p:spTree>
    <p:extLst>
      <p:ext uri="{BB962C8B-B14F-4D97-AF65-F5344CB8AC3E}">
        <p14:creationId xmlns:p14="http://schemas.microsoft.com/office/powerpoint/2010/main" val="16334015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3B1E7-FD5E-7BA3-F871-A7C12ACD2DE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BB9889C8-DCA8-E3A6-8B82-FF60175B9D31}"/>
              </a:ext>
            </a:extLst>
          </p:cNvPr>
          <p:cNvSpPr>
            <a:spLocks noGrp="1"/>
          </p:cNvSpPr>
          <p:nvPr>
            <p:ph idx="1"/>
          </p:nvPr>
        </p:nvSpPr>
        <p:spPr/>
        <p:txBody>
          <a:bodyPr/>
          <a:lstStyle/>
          <a:p>
            <a:r>
              <a:rPr lang="en-US" b="1" dirty="0">
                <a:latin typeface="Times New Roman" panose="02020603050405020304" pitchFamily="18" charset="0"/>
                <a:cs typeface="Times New Roman" panose="02020603050405020304" pitchFamily="18" charset="0"/>
              </a:rPr>
              <a:t>Residual learning</a:t>
            </a:r>
            <a:r>
              <a:rPr lang="en-US" dirty="0">
                <a:latin typeface="Times New Roman" panose="02020603050405020304" pitchFamily="18" charset="0"/>
                <a:cs typeface="Times New Roman" panose="02020603050405020304" pitchFamily="18" charset="0"/>
              </a:rPr>
              <a:t> overcomes degradation and optimization problems in deep networks.</a:t>
            </a:r>
          </a:p>
          <a:p>
            <a:r>
              <a:rPr lang="en-US" dirty="0">
                <a:latin typeface="Times New Roman" panose="02020603050405020304" pitchFamily="18" charset="0"/>
                <a:cs typeface="Times New Roman" panose="02020603050405020304" pitchFamily="18" charset="0"/>
              </a:rPr>
              <a:t>Enables training of </a:t>
            </a:r>
            <a:r>
              <a:rPr lang="en-US" b="1" dirty="0">
                <a:latin typeface="Times New Roman" panose="02020603050405020304" pitchFamily="18" charset="0"/>
                <a:cs typeface="Times New Roman" panose="02020603050405020304" pitchFamily="18" charset="0"/>
              </a:rPr>
              <a:t>extremely deep networks</a:t>
            </a:r>
            <a:r>
              <a:rPr lang="en-US" dirty="0">
                <a:latin typeface="Times New Roman" panose="02020603050405020304" pitchFamily="18" charset="0"/>
                <a:cs typeface="Times New Roman" panose="02020603050405020304" pitchFamily="18" charset="0"/>
              </a:rPr>
              <a:t> (over 1000 layers).</a:t>
            </a:r>
          </a:p>
          <a:p>
            <a:r>
              <a:rPr lang="en-US" dirty="0">
                <a:latin typeface="Times New Roman" panose="02020603050405020304" pitchFamily="18" charset="0"/>
                <a:cs typeface="Times New Roman" panose="02020603050405020304" pitchFamily="18" charset="0"/>
              </a:rPr>
              <a:t>Framework is </a:t>
            </a:r>
            <a:r>
              <a:rPr lang="en-US" b="1"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scalable</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modular</a:t>
            </a:r>
            <a:r>
              <a:rPr lang="en-US" dirty="0">
                <a:latin typeface="Times New Roman" panose="02020603050405020304" pitchFamily="18" charset="0"/>
                <a:cs typeface="Times New Roman" panose="02020603050405020304" pitchFamily="18" charset="0"/>
              </a:rPr>
              <a:t> — adaptable to many vision tasks.</a:t>
            </a:r>
          </a:p>
          <a:p>
            <a:r>
              <a:rPr lang="en-US" dirty="0">
                <a:latin typeface="Times New Roman" panose="02020603050405020304" pitchFamily="18" charset="0"/>
                <a:cs typeface="Times New Roman" panose="02020603050405020304" pitchFamily="18" charset="0"/>
              </a:rPr>
              <a:t>Set a new </a:t>
            </a:r>
            <a:r>
              <a:rPr lang="en-US" b="1" dirty="0">
                <a:latin typeface="Times New Roman" panose="02020603050405020304" pitchFamily="18" charset="0"/>
                <a:cs typeface="Times New Roman" panose="02020603050405020304" pitchFamily="18" charset="0"/>
              </a:rPr>
              <a:t>state-of-the-art</a:t>
            </a:r>
            <a:r>
              <a:rPr lang="en-US" dirty="0">
                <a:latin typeface="Times New Roman" panose="02020603050405020304" pitchFamily="18" charset="0"/>
                <a:cs typeface="Times New Roman" panose="02020603050405020304" pitchFamily="18" charset="0"/>
              </a:rPr>
              <a:t> in classification, detection, and segmentation.</a:t>
            </a:r>
          </a:p>
          <a:p>
            <a:r>
              <a:rPr lang="en-US" dirty="0">
                <a:latin typeface="Times New Roman" panose="02020603050405020304" pitchFamily="18" charset="0"/>
                <a:cs typeface="Times New Roman" panose="02020603050405020304" pitchFamily="18" charset="0"/>
              </a:rPr>
              <a:t>Paved the way for follow-up architectures like </a:t>
            </a:r>
            <a:r>
              <a:rPr lang="en-US" b="1" dirty="0" err="1">
                <a:latin typeface="Times New Roman" panose="02020603050405020304" pitchFamily="18" charset="0"/>
                <a:cs typeface="Times New Roman" panose="02020603050405020304" pitchFamily="18" charset="0"/>
              </a:rPr>
              <a:t>ResNeXt</a:t>
            </a:r>
            <a:r>
              <a:rPr lang="en-US"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DenseNet</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Transformers</a:t>
            </a:r>
            <a:r>
              <a:rPr lang="en-US" dirty="0">
                <a:latin typeface="Times New Roman" panose="02020603050405020304" pitchFamily="18" charset="0"/>
                <a:cs typeface="Times New Roman" panose="02020603050405020304" pitchFamily="18" charset="0"/>
              </a:rPr>
              <a:t> using residual principles.</a:t>
            </a:r>
          </a:p>
        </p:txBody>
      </p:sp>
    </p:spTree>
    <p:extLst>
      <p:ext uri="{BB962C8B-B14F-4D97-AF65-F5344CB8AC3E}">
        <p14:creationId xmlns:p14="http://schemas.microsoft.com/office/powerpoint/2010/main" val="20157191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Custom 35">
      <a:dk1>
        <a:sysClr val="windowText" lastClr="000000"/>
      </a:dk1>
      <a:lt1>
        <a:sysClr val="window" lastClr="FFFFFF"/>
      </a:lt1>
      <a:dk2>
        <a:srgbClr val="4E3B30"/>
      </a:dk2>
      <a:lt2>
        <a:srgbClr val="F4EDD8"/>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Custom 4">
      <a:majorFont>
        <a:latin typeface="Goudy Old Style"/>
        <a:ea typeface=""/>
        <a:cs typeface=""/>
      </a:majorFont>
      <a:minorFont>
        <a:latin typeface="Goudy Old Style"/>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585E981-8C91-4205-A0C3-C991F42B4C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C4C00F4-06E9-43E3-AD97-88A857CEFA82}">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64B270AB-C138-415C-897E-3C24487DECF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{6055074C-8A71-4213-96FF-7E39AE19E0AF}tf55705232_win32</Template>
  <TotalTime>383</TotalTime>
  <Words>818</Words>
  <Application>Microsoft Office PowerPoint</Application>
  <PresentationFormat>Widescreen</PresentationFormat>
  <Paragraphs>89</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Goudy Old Style</vt:lpstr>
      <vt:lpstr>Times New Roman</vt:lpstr>
      <vt:lpstr>Wingdings 2</vt:lpstr>
      <vt:lpstr>SlateVTI</vt:lpstr>
      <vt:lpstr>Deep Residual Learning for Image Recognition</vt:lpstr>
      <vt:lpstr>Abstract</vt:lpstr>
      <vt:lpstr>Motivation</vt:lpstr>
      <vt:lpstr>Residual Learning Concept</vt:lpstr>
      <vt:lpstr>Building Block Diagram</vt:lpstr>
      <vt:lpstr>ResNet Architectures</vt:lpstr>
      <vt:lpstr>Experimental Setup</vt:lpstr>
      <vt:lpstr>ImageNet Results</vt:lpstr>
      <vt:lpstr>CIFAR-10 Results</vt:lpstr>
      <vt:lpstr>Object Detection Results</vt:lpstr>
      <vt:lpstr>Application to Object Detection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Aashik 💛</dc:creator>
  <cp:lastModifiedBy>Aashik 💛</cp:lastModifiedBy>
  <cp:revision>5</cp:revision>
  <dcterms:created xsi:type="dcterms:W3CDTF">2025-04-30T04:15:09Z</dcterms:created>
  <dcterms:modified xsi:type="dcterms:W3CDTF">2025-04-30T19:11:41Z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