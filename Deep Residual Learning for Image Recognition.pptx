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9" autoAdjust="0"/>
  </p:normalViewPr>
  <p:slideViewPr>
    <p:cSldViewPr snapToGrid="0">
      <p:cViewPr>
        <p:scale>
          <a:sx n="88" d="100"/>
          <a:sy n="88" d="100"/>
        </p:scale>
        <p:origin x="12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Motivation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C334C43-E173-6A89-A350-C2C1689ED1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0863" y="2607420"/>
            <a:ext cx="44875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Deeper networks improve accuracy but are hard to train.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Degradation of training accuracy with depth.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residual functions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direct mappings.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40C3-13CE-77D2-1C2A-0ED0C917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Learning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E91C6-17A4-859C-8C4B-B531EC172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Equation: 𝐻(𝑥)=𝐹(𝑥)+𝑥</a:t>
            </a:r>
          </a:p>
          <a:p>
            <a:r>
              <a:rPr lang="en-US" dirty="0"/>
              <a:t>F(x): Residual mapping</a:t>
            </a:r>
          </a:p>
          <a:p>
            <a:r>
              <a:rPr lang="en-US" dirty="0"/>
              <a:t>x: Input</a:t>
            </a:r>
          </a:p>
          <a:p>
            <a:r>
              <a:rPr lang="en-US" dirty="0"/>
              <a:t>Shortcut connections allow identity mapping.</a:t>
            </a:r>
          </a:p>
          <a:p>
            <a:r>
              <a:rPr lang="en-US" dirty="0"/>
              <a:t>Improves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92632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71D4-69AE-AC3F-1C24-06C9CFCE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Building Block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B2FF35-AD92-116D-9EEB-ABC38B0CC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186" y="1788173"/>
            <a:ext cx="5872843" cy="4837529"/>
          </a:xfrm>
        </p:spPr>
      </p:pic>
    </p:spTree>
    <p:extLst>
      <p:ext uri="{BB962C8B-B14F-4D97-AF65-F5344CB8AC3E}">
        <p14:creationId xmlns:p14="http://schemas.microsoft.com/office/powerpoint/2010/main" val="47305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9311-0C87-F853-2D64-7273D915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C7AA0-F1F0-FED7-8BA2-FD6CBA224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18-layer, 34-layer (plain vs residual)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Bottleneck design: 50, 101, 152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1x1, 3x3, and identity/projection shortcuts.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75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A8B1-2050-662F-9F3A-98BECF09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1D4D-47B8-3D19-4365-041B2CEC0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Datasets: ImageNet, CIFAR-10</a:t>
            </a:r>
          </a:p>
          <a:p>
            <a:r>
              <a:rPr lang="en-US" dirty="0"/>
              <a:t>Training: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SGD + Batch Norm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Learning rate scheduling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No dropout</a:t>
            </a:r>
          </a:p>
          <a:p>
            <a:r>
              <a:rPr lang="en-US" dirty="0"/>
              <a:t>Testing: 10-crop, multi-scale</a:t>
            </a:r>
          </a:p>
        </p:txBody>
      </p:sp>
    </p:spTree>
    <p:extLst>
      <p:ext uri="{BB962C8B-B14F-4D97-AF65-F5344CB8AC3E}">
        <p14:creationId xmlns:p14="http://schemas.microsoft.com/office/powerpoint/2010/main" val="179881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1229-B722-767E-5474-B8804D23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C3FF-0182-7176-AF94-2D9BAA7C6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152-layer </a:t>
            </a:r>
            <a:r>
              <a:rPr lang="en-US" dirty="0" err="1"/>
              <a:t>ResNet</a:t>
            </a:r>
            <a:r>
              <a:rPr lang="en-US" dirty="0"/>
              <a:t> achieves 3.57% top-5 error</a:t>
            </a:r>
          </a:p>
          <a:p>
            <a:r>
              <a:rPr lang="en-US" dirty="0"/>
              <a:t>Outperforms VGG and </a:t>
            </a:r>
            <a:r>
              <a:rPr lang="en-US" dirty="0" err="1"/>
              <a:t>GoogLeNet</a:t>
            </a:r>
            <a:endParaRPr lang="en-US" dirty="0"/>
          </a:p>
          <a:p>
            <a:r>
              <a:rPr lang="en-US" dirty="0"/>
              <a:t>Ensemble wins ILSVRC 2015</a:t>
            </a:r>
          </a:p>
        </p:txBody>
      </p:sp>
    </p:spTree>
    <p:extLst>
      <p:ext uri="{BB962C8B-B14F-4D97-AF65-F5344CB8AC3E}">
        <p14:creationId xmlns:p14="http://schemas.microsoft.com/office/powerpoint/2010/main" val="208451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92A2-CDBB-A466-DAA0-8BF56CAD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C317-CE05-ED71-517B-3E7107EC9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 to 1202 layers tested</a:t>
            </a:r>
          </a:p>
          <a:p>
            <a:r>
              <a:rPr lang="en-US" dirty="0"/>
              <a:t>No degradation with increased depth in </a:t>
            </a:r>
            <a:r>
              <a:rPr lang="en-US" dirty="0" err="1"/>
              <a:t>ResNets</a:t>
            </a:r>
            <a:endParaRPr lang="en-US" dirty="0"/>
          </a:p>
          <a:p>
            <a:r>
              <a:rPr lang="en-US" dirty="0"/>
              <a:t>Residual functions have smaller response magnitudes</a:t>
            </a:r>
          </a:p>
        </p:txBody>
      </p:sp>
    </p:spTree>
    <p:extLst>
      <p:ext uri="{BB962C8B-B14F-4D97-AF65-F5344CB8AC3E}">
        <p14:creationId xmlns:p14="http://schemas.microsoft.com/office/powerpoint/2010/main" val="79625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2EF8-3580-D524-4E59-88E856FC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5E447-8FD5-AB03-7E6A-5AFF515A0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to: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US" dirty="0"/>
              <a:t>PASCAL VOC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US" dirty="0"/>
              <a:t>MS COCO</a:t>
            </a:r>
          </a:p>
          <a:p>
            <a:pPr marL="415800" indent="-342900"/>
            <a:r>
              <a:rPr lang="en-US" dirty="0"/>
              <a:t>Strong improvements over VGG-16 in Faster R-CNN</a:t>
            </a:r>
          </a:p>
        </p:txBody>
      </p:sp>
    </p:spTree>
    <p:extLst>
      <p:ext uri="{BB962C8B-B14F-4D97-AF65-F5344CB8AC3E}">
        <p14:creationId xmlns:p14="http://schemas.microsoft.com/office/powerpoint/2010/main" val="197932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B1E7-FD5E-7BA3-F871-A7C12ACD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89C8-DCA8-E3A6-8B82-FF60175B9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Residual learning enables very deep networks</a:t>
            </a:r>
          </a:p>
          <a:p>
            <a:r>
              <a:rPr lang="en-US" dirty="0"/>
              <a:t>Generic and scalable framework</a:t>
            </a:r>
          </a:p>
          <a:p>
            <a:r>
              <a:rPr lang="en-US" dirty="0"/>
              <a:t>State-of-the-art performance across tasks</a:t>
            </a:r>
          </a:p>
        </p:txBody>
      </p:sp>
    </p:spTree>
    <p:extLst>
      <p:ext uri="{BB962C8B-B14F-4D97-AF65-F5344CB8AC3E}">
        <p14:creationId xmlns:p14="http://schemas.microsoft.com/office/powerpoint/2010/main" val="2015719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{6055074C-8A71-4213-96FF-7E39AE19E0AF}tf55705232_win32</Template>
  <TotalTime>54</TotalTime>
  <Words>198</Words>
  <Application>Microsoft Office PowerPoint</Application>
  <PresentationFormat>Widescreen</PresentationFormat>
  <Paragraphs>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Goudy Old Style</vt:lpstr>
      <vt:lpstr>Times New Roman</vt:lpstr>
      <vt:lpstr>Wingdings 2</vt:lpstr>
      <vt:lpstr>SlateVTI</vt:lpstr>
      <vt:lpstr>Deep Residual Learning for Image Recognition</vt:lpstr>
      <vt:lpstr>Motivation</vt:lpstr>
      <vt:lpstr>Residual Learning Concept</vt:lpstr>
      <vt:lpstr>Building Block Diagram</vt:lpstr>
      <vt:lpstr>ResNet Architectures</vt:lpstr>
      <vt:lpstr>Experimental Setup</vt:lpstr>
      <vt:lpstr>ImageNet Results</vt:lpstr>
      <vt:lpstr>CIFAR-10 Results</vt:lpstr>
      <vt:lpstr>Object Detection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Aashik 💛</dc:creator>
  <cp:lastModifiedBy>Aashik 💛</cp:lastModifiedBy>
  <cp:revision>1</cp:revision>
  <dcterms:created xsi:type="dcterms:W3CDTF">2025-04-30T04:15:09Z</dcterms:created>
  <dcterms:modified xsi:type="dcterms:W3CDTF">2025-04-30T05:09:40Z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